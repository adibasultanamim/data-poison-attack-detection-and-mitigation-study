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1"/>
  </p:notesMasterIdLst>
  <p:sldIdLst>
    <p:sldId id="256" r:id="rId2"/>
    <p:sldId id="276" r:id="rId3"/>
    <p:sldId id="286" r:id="rId4"/>
    <p:sldId id="257" r:id="rId5"/>
    <p:sldId id="287" r:id="rId6"/>
    <p:sldId id="288" r:id="rId7"/>
    <p:sldId id="269" r:id="rId8"/>
    <p:sldId id="260" r:id="rId9"/>
    <p:sldId id="261" r:id="rId10"/>
    <p:sldId id="303" r:id="rId11"/>
    <p:sldId id="302" r:id="rId12"/>
    <p:sldId id="262" r:id="rId13"/>
    <p:sldId id="263" r:id="rId14"/>
    <p:sldId id="271" r:id="rId15"/>
    <p:sldId id="272" r:id="rId16"/>
    <p:sldId id="273" r:id="rId17"/>
    <p:sldId id="274" r:id="rId18"/>
    <p:sldId id="264" r:id="rId19"/>
    <p:sldId id="265" r:id="rId20"/>
    <p:sldId id="266" r:id="rId21"/>
    <p:sldId id="267" r:id="rId22"/>
    <p:sldId id="275" r:id="rId23"/>
    <p:sldId id="299" r:id="rId24"/>
    <p:sldId id="300" r:id="rId25"/>
    <p:sldId id="290" r:id="rId26"/>
    <p:sldId id="289" r:id="rId27"/>
    <p:sldId id="301" r:id="rId28"/>
    <p:sldId id="291" r:id="rId29"/>
    <p:sldId id="292" r:id="rId30"/>
    <p:sldId id="293" r:id="rId31"/>
    <p:sldId id="294" r:id="rId32"/>
    <p:sldId id="295" r:id="rId33"/>
    <p:sldId id="281" r:id="rId34"/>
    <p:sldId id="282" r:id="rId35"/>
    <p:sldId id="283" r:id="rId36"/>
    <p:sldId id="285" r:id="rId37"/>
    <p:sldId id="284" r:id="rId38"/>
    <p:sldId id="268" r:id="rId39"/>
    <p:sldId id="270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2385" autoAdjust="0"/>
  </p:normalViewPr>
  <p:slideViewPr>
    <p:cSldViewPr snapToGrid="0" snapToObjects="1">
      <p:cViewPr varScale="1">
        <p:scale>
          <a:sx n="80" d="100"/>
          <a:sy n="80" d="100"/>
        </p:scale>
        <p:origin x="17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01C6E2-2542-4643-914E-D98BCEF301B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30DF99-E37F-4336-9C80-7D65D3D5DF28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CIFAR-10(</a:t>
          </a:r>
          <a:r>
            <a:rPr lang="en-US" sz="2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60,000 images, 10 classes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) </a:t>
          </a:r>
        </a:p>
      </dgm:t>
    </dgm:pt>
    <dgm:pt modelId="{87025608-B323-482B-B60B-5A36913D7F2C}" type="parTrans" cxnId="{84B07C54-53A3-4BCB-9245-6CF6F0C61F50}">
      <dgm:prSet/>
      <dgm:spPr/>
      <dgm:t>
        <a:bodyPr/>
        <a:lstStyle/>
        <a:p>
          <a:endParaRPr lang="en-US"/>
        </a:p>
      </dgm:t>
    </dgm:pt>
    <dgm:pt modelId="{A7DE9610-32BE-4452-9AE8-7E7977B9249E}" type="sibTrans" cxnId="{84B07C54-53A3-4BCB-9245-6CF6F0C61F50}">
      <dgm:prSet/>
      <dgm:spPr/>
      <dgm:t>
        <a:bodyPr/>
        <a:lstStyle/>
        <a:p>
          <a:endParaRPr lang="en-US"/>
        </a:p>
      </dgm:t>
    </dgm:pt>
    <dgm:pt modelId="{B294AD8C-32DB-4A59-BF5B-4EAD9AA4A9D9}">
      <dgm:prSet custT="1"/>
      <dgm:spPr/>
      <dgm:t>
        <a:bodyPr/>
        <a:lstStyle/>
        <a:p>
          <a:r>
            <a:rPr lang="en-US" sz="2400" dirty="0"/>
            <a:t>Dataset Split</a:t>
          </a:r>
          <a:r>
            <a:rPr lang="en-US" sz="2400" b="1" dirty="0"/>
            <a:t>:</a:t>
          </a:r>
        </a:p>
      </dgm:t>
    </dgm:pt>
    <dgm:pt modelId="{D9639D3F-6AD0-42FB-A6E0-410E88609323}" type="sibTrans" cxnId="{8E492AEB-78A4-4E43-ACC7-72825AE1E633}">
      <dgm:prSet/>
      <dgm:spPr/>
      <dgm:t>
        <a:bodyPr/>
        <a:lstStyle/>
        <a:p>
          <a:endParaRPr lang="en-US"/>
        </a:p>
      </dgm:t>
    </dgm:pt>
    <dgm:pt modelId="{9FE7463E-8BF3-4879-8C57-87D43488F347}" type="parTrans" cxnId="{8E492AEB-78A4-4E43-ACC7-72825AE1E633}">
      <dgm:prSet/>
      <dgm:spPr/>
      <dgm:t>
        <a:bodyPr/>
        <a:lstStyle/>
        <a:p>
          <a:endParaRPr lang="en-US"/>
        </a:p>
      </dgm:t>
    </dgm:pt>
    <dgm:pt modelId="{4CF07EB1-EC86-47AD-B705-28B2FC31FC6E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Poison-train(45,000)</a:t>
          </a:r>
          <a:b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185575-5341-44F3-A13F-433F17129701}" type="sibTrans" cxnId="{C8AE3BA2-B151-4C8A-BD3B-99C3D02966AC}">
      <dgm:prSet/>
      <dgm:spPr/>
      <dgm:t>
        <a:bodyPr/>
        <a:lstStyle/>
        <a:p>
          <a:endParaRPr lang="en-US"/>
        </a:p>
      </dgm:t>
    </dgm:pt>
    <dgm:pt modelId="{2C0B67D0-A423-4C5A-B2C1-32C6C46EEF35}" type="parTrans" cxnId="{C8AE3BA2-B151-4C8A-BD3B-99C3D02966AC}">
      <dgm:prSet/>
      <dgm:spPr/>
      <dgm:t>
        <a:bodyPr/>
        <a:lstStyle/>
        <a:p>
          <a:endParaRPr lang="en-US"/>
        </a:p>
      </dgm:t>
    </dgm:pt>
    <dgm:pt modelId="{2ADBEBED-9AAB-4AEB-A747-47F818CE5972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Clean holdout(5,000 (500/class))</a:t>
          </a:r>
          <a:b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Probes, pruning, fine-tuning ONLY</a:t>
          </a:r>
          <a:b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94C251-C029-493D-B821-0C014E99BB2A}" type="parTrans" cxnId="{8BE19A9A-752E-4A3D-8FF4-6859F79CC738}">
      <dgm:prSet/>
      <dgm:spPr/>
      <dgm:t>
        <a:bodyPr/>
        <a:lstStyle/>
        <a:p>
          <a:endParaRPr lang="en-US"/>
        </a:p>
      </dgm:t>
    </dgm:pt>
    <dgm:pt modelId="{CFB46563-8CDA-4825-8854-651E32D6622A}" type="sibTrans" cxnId="{8BE19A9A-752E-4A3D-8FF4-6859F79CC738}">
      <dgm:prSet/>
      <dgm:spPr/>
      <dgm:t>
        <a:bodyPr/>
        <a:lstStyle/>
        <a:p>
          <a:endParaRPr lang="en-US"/>
        </a:p>
      </dgm:t>
    </dgm:pt>
    <dgm:pt modelId="{BBC62DB0-006D-4BC1-BD94-32C2748EADAD}">
      <dgm:prSet custT="1"/>
      <dgm:spPr/>
      <dgm:t>
        <a:bodyPr/>
        <a:lstStyle/>
        <a:p>
          <a:r>
            <a:rPr lang="en-US" sz="2400" b="1" dirty="0"/>
            <a:t>Datasets:</a:t>
          </a:r>
        </a:p>
      </dgm:t>
    </dgm:pt>
    <dgm:pt modelId="{8DB7D690-7265-4DA1-9909-28EED6A7BF42}" type="sibTrans" cxnId="{19AD3E87-46DF-4A3D-9B5F-4766F362E287}">
      <dgm:prSet/>
      <dgm:spPr/>
      <dgm:t>
        <a:bodyPr/>
        <a:lstStyle/>
        <a:p>
          <a:endParaRPr lang="en-US"/>
        </a:p>
      </dgm:t>
    </dgm:pt>
    <dgm:pt modelId="{88E2F838-2F0D-4E19-A4FE-DFDA231E0E35}" type="parTrans" cxnId="{19AD3E87-46DF-4A3D-9B5F-4766F362E287}">
      <dgm:prSet/>
      <dgm:spPr/>
      <dgm:t>
        <a:bodyPr/>
        <a:lstStyle/>
        <a:p>
          <a:endParaRPr lang="en-US"/>
        </a:p>
      </dgm:t>
    </dgm:pt>
    <dgm:pt modelId="{6BDEA631-88D8-4D08-AF94-D13DCBEB2D09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Test set(10,000) for final CA and ASR evaluation ONLY — never touched during any tuning</a:t>
          </a:r>
        </a:p>
      </dgm:t>
    </dgm:pt>
    <dgm:pt modelId="{2FAF37CD-31F1-44DD-A3F9-2D18F0A9B9AB}" type="sibTrans" cxnId="{A25C08B6-78CE-4928-A998-F5C6C3F391E7}">
      <dgm:prSet/>
      <dgm:spPr/>
      <dgm:t>
        <a:bodyPr/>
        <a:lstStyle/>
        <a:p>
          <a:endParaRPr lang="en-US"/>
        </a:p>
      </dgm:t>
    </dgm:pt>
    <dgm:pt modelId="{6CDACDBD-B169-433F-8785-7C2F073597D6}" type="parTrans" cxnId="{A25C08B6-78CE-4928-A998-F5C6C3F391E7}">
      <dgm:prSet/>
      <dgm:spPr/>
      <dgm:t>
        <a:bodyPr/>
        <a:lstStyle/>
        <a:p>
          <a:endParaRPr lang="en-US"/>
        </a:p>
      </dgm:t>
    </dgm:pt>
    <dgm:pt modelId="{F2BEA453-5F10-4B62-B996-EC3B92A2B9A4}" type="pres">
      <dgm:prSet presAssocID="{1301C6E2-2542-4643-914E-D98BCEF301BF}" presName="Name0" presStyleCnt="0">
        <dgm:presLayoutVars>
          <dgm:dir/>
          <dgm:animLvl val="lvl"/>
          <dgm:resizeHandles val="exact"/>
        </dgm:presLayoutVars>
      </dgm:prSet>
      <dgm:spPr/>
    </dgm:pt>
    <dgm:pt modelId="{4AF3F94A-4422-4303-B535-595510BD588B}" type="pres">
      <dgm:prSet presAssocID="{BBC62DB0-006D-4BC1-BD94-32C2748EADAD}" presName="linNode" presStyleCnt="0"/>
      <dgm:spPr/>
    </dgm:pt>
    <dgm:pt modelId="{06900AEB-6903-49EB-8BE5-1EBF3BC68D80}" type="pres">
      <dgm:prSet presAssocID="{BBC62DB0-006D-4BC1-BD94-32C2748EADAD}" presName="parentText" presStyleLbl="node1" presStyleIdx="0" presStyleCnt="2" custScaleY="34235" custLinFactNeighborX="-3" custLinFactNeighborY="3062">
        <dgm:presLayoutVars>
          <dgm:chMax val="1"/>
          <dgm:bulletEnabled val="1"/>
        </dgm:presLayoutVars>
      </dgm:prSet>
      <dgm:spPr/>
    </dgm:pt>
    <dgm:pt modelId="{F12EE947-081B-48F3-BF74-381B113CAE71}" type="pres">
      <dgm:prSet presAssocID="{BBC62DB0-006D-4BC1-BD94-32C2748EADAD}" presName="descendantText" presStyleLbl="alignAccFollowNode1" presStyleIdx="0" presStyleCnt="2" custScaleX="102160" custScaleY="31275" custLinFactNeighborX="6527" custLinFactNeighborY="630">
        <dgm:presLayoutVars>
          <dgm:bulletEnabled val="1"/>
        </dgm:presLayoutVars>
      </dgm:prSet>
      <dgm:spPr/>
    </dgm:pt>
    <dgm:pt modelId="{DF926314-BC4D-40E3-87F1-85C85489BE89}" type="pres">
      <dgm:prSet presAssocID="{8DB7D690-7265-4DA1-9909-28EED6A7BF42}" presName="sp" presStyleCnt="0"/>
      <dgm:spPr/>
    </dgm:pt>
    <dgm:pt modelId="{B12CDE6F-C494-48B0-8408-B1C14A3DBAF0}" type="pres">
      <dgm:prSet presAssocID="{B294AD8C-32DB-4A59-BF5B-4EAD9AA4A9D9}" presName="linNode" presStyleCnt="0"/>
      <dgm:spPr/>
    </dgm:pt>
    <dgm:pt modelId="{065018E4-2D55-4469-BE6D-28BBA114BB42}" type="pres">
      <dgm:prSet presAssocID="{B294AD8C-32DB-4A59-BF5B-4EAD9AA4A9D9}" presName="parentText" presStyleLbl="node1" presStyleIdx="1" presStyleCnt="2" custScaleY="73604">
        <dgm:presLayoutVars>
          <dgm:chMax val="1"/>
          <dgm:bulletEnabled val="1"/>
        </dgm:presLayoutVars>
      </dgm:prSet>
      <dgm:spPr/>
    </dgm:pt>
    <dgm:pt modelId="{48F996AD-1471-4E83-9C8D-67D03D7A9814}" type="pres">
      <dgm:prSet presAssocID="{B294AD8C-32DB-4A59-BF5B-4EAD9AA4A9D9}" presName="descendantText" presStyleLbl="alignAccFollowNode1" presStyleIdx="1" presStyleCnt="2" custScaleX="97937" custScaleY="117745" custLinFactNeighborX="0">
        <dgm:presLayoutVars>
          <dgm:bulletEnabled val="1"/>
        </dgm:presLayoutVars>
      </dgm:prSet>
      <dgm:spPr/>
    </dgm:pt>
  </dgm:ptLst>
  <dgm:cxnLst>
    <dgm:cxn modelId="{84B07C54-53A3-4BCB-9245-6CF6F0C61F50}" srcId="{BBC62DB0-006D-4BC1-BD94-32C2748EADAD}" destId="{5D30DF99-E37F-4336-9C80-7D65D3D5DF28}" srcOrd="0" destOrd="0" parTransId="{87025608-B323-482B-B60B-5A36913D7F2C}" sibTransId="{A7DE9610-32BE-4452-9AE8-7E7977B9249E}"/>
    <dgm:cxn modelId="{9DC53E84-6BCB-46DF-BD96-C0A2A2D8D969}" type="presOf" srcId="{5D30DF99-E37F-4336-9C80-7D65D3D5DF28}" destId="{F12EE947-081B-48F3-BF74-381B113CAE71}" srcOrd="0" destOrd="0" presId="urn:microsoft.com/office/officeart/2005/8/layout/vList5"/>
    <dgm:cxn modelId="{19AD3E87-46DF-4A3D-9B5F-4766F362E287}" srcId="{1301C6E2-2542-4643-914E-D98BCEF301BF}" destId="{BBC62DB0-006D-4BC1-BD94-32C2748EADAD}" srcOrd="0" destOrd="0" parTransId="{88E2F838-2F0D-4E19-A4FE-DFDA231E0E35}" sibTransId="{8DB7D690-7265-4DA1-9909-28EED6A7BF42}"/>
    <dgm:cxn modelId="{27796B8D-CC20-445E-8E15-3BEB4685C767}" type="presOf" srcId="{6BDEA631-88D8-4D08-AF94-D13DCBEB2D09}" destId="{48F996AD-1471-4E83-9C8D-67D03D7A9814}" srcOrd="0" destOrd="2" presId="urn:microsoft.com/office/officeart/2005/8/layout/vList5"/>
    <dgm:cxn modelId="{8BE19A9A-752E-4A3D-8FF4-6859F79CC738}" srcId="{B294AD8C-32DB-4A59-BF5B-4EAD9AA4A9D9}" destId="{2ADBEBED-9AAB-4AEB-A747-47F818CE5972}" srcOrd="1" destOrd="0" parTransId="{2194C251-C029-493D-B821-0C014E99BB2A}" sibTransId="{CFB46563-8CDA-4825-8854-651E32D6622A}"/>
    <dgm:cxn modelId="{C8AE3BA2-B151-4C8A-BD3B-99C3D02966AC}" srcId="{B294AD8C-32DB-4A59-BF5B-4EAD9AA4A9D9}" destId="{4CF07EB1-EC86-47AD-B705-28B2FC31FC6E}" srcOrd="0" destOrd="0" parTransId="{2C0B67D0-A423-4C5A-B2C1-32C6C46EEF35}" sibTransId="{63185575-5341-44F3-A13F-433F17129701}"/>
    <dgm:cxn modelId="{3C295AA9-23E0-423D-B459-07502B288E20}" type="presOf" srcId="{B294AD8C-32DB-4A59-BF5B-4EAD9AA4A9D9}" destId="{065018E4-2D55-4469-BE6D-28BBA114BB42}" srcOrd="0" destOrd="0" presId="urn:microsoft.com/office/officeart/2005/8/layout/vList5"/>
    <dgm:cxn modelId="{A25C08B6-78CE-4928-A998-F5C6C3F391E7}" srcId="{B294AD8C-32DB-4A59-BF5B-4EAD9AA4A9D9}" destId="{6BDEA631-88D8-4D08-AF94-D13DCBEB2D09}" srcOrd="2" destOrd="0" parTransId="{6CDACDBD-B169-433F-8785-7C2F073597D6}" sibTransId="{2FAF37CD-31F1-44DD-A3F9-2D18F0A9B9AB}"/>
    <dgm:cxn modelId="{268181CD-D5F1-4326-81D9-5C7FF73A7F76}" type="presOf" srcId="{4CF07EB1-EC86-47AD-B705-28B2FC31FC6E}" destId="{48F996AD-1471-4E83-9C8D-67D03D7A9814}" srcOrd="0" destOrd="0" presId="urn:microsoft.com/office/officeart/2005/8/layout/vList5"/>
    <dgm:cxn modelId="{CE8113E5-636C-4BC7-98AC-83BA6D420EC1}" type="presOf" srcId="{BBC62DB0-006D-4BC1-BD94-32C2748EADAD}" destId="{06900AEB-6903-49EB-8BE5-1EBF3BC68D80}" srcOrd="0" destOrd="0" presId="urn:microsoft.com/office/officeart/2005/8/layout/vList5"/>
    <dgm:cxn modelId="{8E492AEB-78A4-4E43-ACC7-72825AE1E633}" srcId="{1301C6E2-2542-4643-914E-D98BCEF301BF}" destId="{B294AD8C-32DB-4A59-BF5B-4EAD9AA4A9D9}" srcOrd="1" destOrd="0" parTransId="{9FE7463E-8BF3-4879-8C57-87D43488F347}" sibTransId="{D9639D3F-6AD0-42FB-A6E0-410E88609323}"/>
    <dgm:cxn modelId="{0ED626F9-157F-4133-A49B-2805B6AC2879}" type="presOf" srcId="{1301C6E2-2542-4643-914E-D98BCEF301BF}" destId="{F2BEA453-5F10-4B62-B996-EC3B92A2B9A4}" srcOrd="0" destOrd="0" presId="urn:microsoft.com/office/officeart/2005/8/layout/vList5"/>
    <dgm:cxn modelId="{339A1AFF-4784-4060-945A-224A3EFFC017}" type="presOf" srcId="{2ADBEBED-9AAB-4AEB-A747-47F818CE5972}" destId="{48F996AD-1471-4E83-9C8D-67D03D7A9814}" srcOrd="0" destOrd="1" presId="urn:microsoft.com/office/officeart/2005/8/layout/vList5"/>
    <dgm:cxn modelId="{503CEE93-2995-4665-A6E5-F486E614222C}" type="presParOf" srcId="{F2BEA453-5F10-4B62-B996-EC3B92A2B9A4}" destId="{4AF3F94A-4422-4303-B535-595510BD588B}" srcOrd="0" destOrd="0" presId="urn:microsoft.com/office/officeart/2005/8/layout/vList5"/>
    <dgm:cxn modelId="{85A5A2FA-8065-4D99-A2D0-80FFE49D0B59}" type="presParOf" srcId="{4AF3F94A-4422-4303-B535-595510BD588B}" destId="{06900AEB-6903-49EB-8BE5-1EBF3BC68D80}" srcOrd="0" destOrd="0" presId="urn:microsoft.com/office/officeart/2005/8/layout/vList5"/>
    <dgm:cxn modelId="{79E6CFD6-5B05-43C4-AC3A-0F4FA242804E}" type="presParOf" srcId="{4AF3F94A-4422-4303-B535-595510BD588B}" destId="{F12EE947-081B-48F3-BF74-381B113CAE71}" srcOrd="1" destOrd="0" presId="urn:microsoft.com/office/officeart/2005/8/layout/vList5"/>
    <dgm:cxn modelId="{48DCEC59-CD1E-48F8-BB9D-2C8BFED34245}" type="presParOf" srcId="{F2BEA453-5F10-4B62-B996-EC3B92A2B9A4}" destId="{DF926314-BC4D-40E3-87F1-85C85489BE89}" srcOrd="1" destOrd="0" presId="urn:microsoft.com/office/officeart/2005/8/layout/vList5"/>
    <dgm:cxn modelId="{DCF29DC8-5D34-4C36-A620-F24E9DA7F35B}" type="presParOf" srcId="{F2BEA453-5F10-4B62-B996-EC3B92A2B9A4}" destId="{B12CDE6F-C494-48B0-8408-B1C14A3DBAF0}" srcOrd="2" destOrd="0" presId="urn:microsoft.com/office/officeart/2005/8/layout/vList5"/>
    <dgm:cxn modelId="{4B42D323-16D9-4630-9A9C-7430F2EE35C4}" type="presParOf" srcId="{B12CDE6F-C494-48B0-8408-B1C14A3DBAF0}" destId="{065018E4-2D55-4469-BE6D-28BBA114BB42}" srcOrd="0" destOrd="0" presId="urn:microsoft.com/office/officeart/2005/8/layout/vList5"/>
    <dgm:cxn modelId="{94FB39E6-270D-4381-ACD1-37430E3FB720}" type="presParOf" srcId="{B12CDE6F-C494-48B0-8408-B1C14A3DBAF0}" destId="{48F996AD-1471-4E83-9C8D-67D03D7A981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EE947-081B-48F3-BF74-381B113CAE71}">
      <dsp:nvSpPr>
        <dsp:cNvPr id="0" name=""/>
        <dsp:cNvSpPr/>
      </dsp:nvSpPr>
      <dsp:spPr>
        <a:xfrm rot="5400000">
          <a:off x="5345249" y="-2203565"/>
          <a:ext cx="727081" cy="54335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CIFAR-10(</a:t>
          </a:r>
          <a:r>
            <a:rPr lang="en-US" sz="2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60,000 images, 10 classes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 </a:t>
          </a:r>
        </a:p>
      </dsp:txBody>
      <dsp:txXfrm rot="-5400000">
        <a:off x="2992037" y="185140"/>
        <a:ext cx="5398013" cy="656095"/>
      </dsp:txXfrm>
    </dsp:sp>
    <dsp:sp modelId="{06900AEB-6903-49EB-8BE5-1EBF3BC68D80}">
      <dsp:nvSpPr>
        <dsp:cNvPr id="0" name=""/>
        <dsp:cNvSpPr/>
      </dsp:nvSpPr>
      <dsp:spPr>
        <a:xfrm>
          <a:off x="0" y="90088"/>
          <a:ext cx="2991726" cy="994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Datasets:</a:t>
          </a:r>
        </a:p>
      </dsp:txBody>
      <dsp:txXfrm>
        <a:off x="48566" y="138654"/>
        <a:ext cx="2894594" cy="897737"/>
      </dsp:txXfrm>
    </dsp:sp>
    <dsp:sp modelId="{48F996AD-1471-4E83-9C8D-67D03D7A9814}">
      <dsp:nvSpPr>
        <dsp:cNvPr id="0" name=""/>
        <dsp:cNvSpPr/>
      </dsp:nvSpPr>
      <dsp:spPr>
        <a:xfrm rot="5400000">
          <a:off x="4305234" y="-130608"/>
          <a:ext cx="2737335" cy="52811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Poison-train(45,000)</a:t>
          </a:r>
          <a:b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 holdout(5,000 (500/class))</a:t>
          </a:r>
          <a:b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Probes, pruning, fine-tuning ONLY</a:t>
          </a:r>
          <a:b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Test set(10,000) for final CA and ASR evaluation ONLY — never touched during any tuning</a:t>
          </a:r>
        </a:p>
      </dsp:txBody>
      <dsp:txXfrm rot="-5400000">
        <a:off x="3033350" y="1274902"/>
        <a:ext cx="5147477" cy="2470083"/>
      </dsp:txXfrm>
    </dsp:sp>
    <dsp:sp modelId="{065018E4-2D55-4469-BE6D-28BBA114BB42}">
      <dsp:nvSpPr>
        <dsp:cNvPr id="0" name=""/>
        <dsp:cNvSpPr/>
      </dsp:nvSpPr>
      <dsp:spPr>
        <a:xfrm>
          <a:off x="155" y="1440477"/>
          <a:ext cx="3033195" cy="21389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Dataset Split</a:t>
          </a:r>
          <a:r>
            <a:rPr lang="en-US" sz="2400" b="1" kern="1200" dirty="0"/>
            <a:t>:</a:t>
          </a:r>
        </a:p>
      </dsp:txBody>
      <dsp:txXfrm>
        <a:off x="104569" y="1544891"/>
        <a:ext cx="2824367" cy="1930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2D4E0-AF5F-4F96-A20D-3F527762521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931AB-8F15-4FC3-8DF1-F9C337309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72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931AB-8F15-4FC3-8DF1-F9C3373092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52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931AB-8F15-4FC3-8DF1-F9C33730924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09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CDB2F22-F664-44D1-A2DD-E1BF5A5FDA0E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8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1C8-9729-4B91-A56D-6C0D5F5F02C9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EEB1-36CF-4B63-855C-D78DECFB2513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9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61DF-4307-408E-AFD9-14222653E9E1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2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8C47-046A-4F05-88BA-53A7E9533EEB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0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7B79-BD7F-477B-BF0A-A704DA8F9A19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8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B56E-6A20-4866-B0F8-89093F1AE973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6B3F-A3A8-4687-975E-56C85E1D7974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6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0E6D5-BFB4-4948-87EE-78463399B0CC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25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A3F9-BFC7-43CC-AB35-27FCF566A6F2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7507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A3F9-BFC7-43CC-AB35-27FCF566A6F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0941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A3F9-BFC7-43CC-AB35-27FCF566A6F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5266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A3F9-BFC7-43CC-AB35-27FCF566A6F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06273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A3F9-BFC7-43CC-AB35-27FCF566A6F2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44231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A3F9-BFC7-43CC-AB35-27FCF566A6F2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9833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B2AA987A-8CED-4E85-8C34-16B344C446CE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95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DEC5-98D3-42DF-A822-5E3A485B456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8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2109A3F9-BFC7-43CC-AB35-27FCF566A6F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9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l-shortener.me/5FVC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8" y="619606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and repairing backdoored neural networks using guided pruning, and knowledge distillation.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594" y="4861727"/>
            <a:ext cx="8658809" cy="1859748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                                                    Presented To: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Adiba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Sultana                                                      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Mahmuda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Naznin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CSE                                                         Professor, D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ept. of CSE(BUET)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: 1024052016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9730761-54E3-48C2-AFD5-43B0481D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4FCA867-BC16-4A68-89BE-BC04D363BDB5}"/>
              </a:ext>
            </a:extLst>
          </p:cNvPr>
          <p:cNvSpPr txBox="1">
            <a:spLocks/>
          </p:cNvSpPr>
          <p:nvPr/>
        </p:nvSpPr>
        <p:spPr>
          <a:xfrm>
            <a:off x="1474236" y="2048597"/>
            <a:ext cx="4342839" cy="1902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Bangladesh University of Engineering and Technology - Wikipedia">
            <a:extLst>
              <a:ext uri="{FF2B5EF4-FFF2-40B4-BE49-F238E27FC236}">
                <a16:creationId xmlns:a16="http://schemas.microsoft.com/office/drawing/2014/main" id="{5F76D72F-7B61-4362-9CF6-85927C18A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26" y="2131391"/>
            <a:ext cx="1429917" cy="142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D527062-8761-4019-8909-3DA4CB13FB1A}"/>
              </a:ext>
            </a:extLst>
          </p:cNvPr>
          <p:cNvSpPr txBox="1">
            <a:spLocks/>
          </p:cNvSpPr>
          <p:nvPr/>
        </p:nvSpPr>
        <p:spPr>
          <a:xfrm>
            <a:off x="2428570" y="3591038"/>
            <a:ext cx="4156227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6506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BB51-C8C5-4A22-879F-A65B6F96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556BE-9E25-4F08-B62C-EE9A55E3D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2190751"/>
            <a:ext cx="8572500" cy="402907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Stealthy attack inserting malicious data into training sets to corrupt AI models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Poisoned samples leave a unique, temporary "fingerprint" during the model's training process.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proactive shield (Defense), ensuring robust and trustworthy model development.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3F2B1-0A6C-4531-895C-13CB037D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C52C64-9560-4FE2-B223-556A578EFBC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90751"/>
            <a:ext cx="8477250" cy="3919191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B8770E-4A9B-4D92-969E-D6AB6922F196}"/>
              </a:ext>
            </a:extLst>
          </p:cNvPr>
          <p:cNvSpPr txBox="1"/>
          <p:nvPr/>
        </p:nvSpPr>
        <p:spPr>
          <a:xfrm>
            <a:off x="285750" y="6404281"/>
            <a:ext cx="551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Ref: https://url-shortener.me/4I9T</a:t>
            </a:r>
          </a:p>
        </p:txBody>
      </p:sp>
    </p:spTree>
    <p:extLst>
      <p:ext uri="{BB962C8B-B14F-4D97-AF65-F5344CB8AC3E}">
        <p14:creationId xmlns:p14="http://schemas.microsoft.com/office/powerpoint/2010/main" val="336031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A4ED9-3E40-4A8C-8C43-E15F324E2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89990-9432-466B-9751-1F0DB1CFC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974818" cy="3530600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whether a model has been backdoored, without using any labeled backdoored models.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Localize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which specific layers/blocks in the network encode the backdoor.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Repair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model by guided pruning of those blocks, restoring it to near-original accuracy while suppressing the attack.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F8DC5-1214-410B-B693-3264B607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0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266" y="2273397"/>
            <a:ext cx="7993868" cy="3778974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deep learning models can be secretly compromised during training. An adversary can inject a "backdoor" by poisoning a small fraction of the training data with a subtle trigger pattern (a small patch, a blended noise signal, or an invisible warp), the model learns a hidden shortcut.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clean inputs it behaves perfectly normally; the moment the trigger appears at inference time, it misclassifies everything as the attacker's chosen target class.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CA9836-2D34-4C28-90ED-C9DB5686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 descr="Data Poisoning attacks on Enterprise LLM applications: AI risks, detection,  and prevention">
            <a:extLst>
              <a:ext uri="{FF2B5EF4-FFF2-40B4-BE49-F238E27FC236}">
                <a16:creationId xmlns:a16="http://schemas.microsoft.com/office/drawing/2014/main" id="{5D44190B-2AA9-444E-B8CA-F31414135D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Data and Model Poisoning in LLMs: The Hidden Threats Inside Our Smartest  Machines - CWL : Advanced Cyber A ...">
            <a:extLst>
              <a:ext uri="{FF2B5EF4-FFF2-40B4-BE49-F238E27FC236}">
                <a16:creationId xmlns:a16="http://schemas.microsoft.com/office/drawing/2014/main" id="{C307AD77-7F57-4B1B-BE27-A8058B63E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66" y="2292447"/>
            <a:ext cx="8229599" cy="354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045BBB-7D12-471A-869F-D4ACBB710FBF}"/>
              </a:ext>
            </a:extLst>
          </p:cNvPr>
          <p:cNvSpPr txBox="1"/>
          <p:nvPr/>
        </p:nvSpPr>
        <p:spPr>
          <a:xfrm>
            <a:off x="457200" y="634897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Ref: https://url-shortener.me/4I9B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BD19-84CA-4111-923B-5458B7D3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Attacks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DC6EB-C83A-4E86-8005-008E7CC9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8CB35E2-6583-447F-A360-6FCA7BECD7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3858" y="3018683"/>
            <a:ext cx="841819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BadNets</a:t>
            </a: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fixed 3×3 white pixel patch stamped at the bottom-right corner. Visually obvious.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Blended: 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random noise pattern blended into the image at alpha=0.10. Nearly invisible to human eyes; requires the model to pick up a global, subtle frequency signature.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WaNet</a:t>
            </a: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elastic warping of the image via a pre-computed smooth flow field (F. No addable pixel artifact; the distortion is imperceptible (≤1px displacement on 32×32). Most stealthy of the three.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497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07C92-EB5A-4BE1-AE8E-84AD955B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 Configuration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3A6DA-EA12-4FF1-9B1A-F7F6F992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654E66-B99B-4B83-A9CA-69F2A9541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72" y="2777489"/>
            <a:ext cx="7575952" cy="233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96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813087" cy="3530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and access-control systems(face recognition)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Auto-deployment for safety-critical systems (autonomous vehicles)</a:t>
            </a:r>
          </a:p>
          <a:p>
            <a:pPr marL="0" indent="0" algn="just"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3DE87-9573-41B7-B74C-2CE825B0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Vulnerability of Clean-Label Poisoning Attack for Object Detection in  Maritime Autonomous Surface Ships">
            <a:extLst>
              <a:ext uri="{FF2B5EF4-FFF2-40B4-BE49-F238E27FC236}">
                <a16:creationId xmlns:a16="http://schemas.microsoft.com/office/drawing/2014/main" id="{91BBEF4D-FB9C-44B1-90D0-969BDD80B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25" y="2330972"/>
            <a:ext cx="7989997" cy="331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D5E58A-F2BA-4F79-8477-966DABD574CD}"/>
              </a:ext>
            </a:extLst>
          </p:cNvPr>
          <p:cNvSpPr txBox="1"/>
          <p:nvPr/>
        </p:nvSpPr>
        <p:spPr>
          <a:xfrm>
            <a:off x="261937" y="6338887"/>
            <a:ext cx="509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Ref: 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https://url-shortener.me/5FVC</a:t>
            </a:r>
            <a:endParaRPr lang="en-US" dirty="0"/>
          </a:p>
        </p:txBody>
      </p:sp>
      <p:pic>
        <p:nvPicPr>
          <p:cNvPr id="1028" name="Picture 4" descr="Poisoning attacks on face authentication systems by using the generative  deformation model | Multimedia Tools and Applications">
            <a:extLst>
              <a:ext uri="{FF2B5EF4-FFF2-40B4-BE49-F238E27FC236}">
                <a16:creationId xmlns:a16="http://schemas.microsoft.com/office/drawing/2014/main" id="{5BB074EE-3F86-4CF4-AC48-CCD4A0782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35" y="2181225"/>
            <a:ext cx="7901543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0D74D0-0EA4-4C81-B508-FDE29FCAD135}"/>
              </a:ext>
            </a:extLst>
          </p:cNvPr>
          <p:cNvSpPr txBox="1"/>
          <p:nvPr/>
        </p:nvSpPr>
        <p:spPr>
          <a:xfrm>
            <a:off x="4770923" y="6338886"/>
            <a:ext cx="509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Ref:  https://url-shortener.me/5FVQ</a:t>
            </a:r>
          </a:p>
        </p:txBody>
      </p:sp>
    </p:spTree>
    <p:extLst>
      <p:ext uri="{BB962C8B-B14F-4D97-AF65-F5344CB8AC3E}">
        <p14:creationId xmlns:p14="http://schemas.microsoft.com/office/powerpoint/2010/main" val="263456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175" y="2200275"/>
            <a:ext cx="8162925" cy="4067175"/>
          </a:xfrm>
        </p:spPr>
        <p:txBody>
          <a:bodyPr>
            <a:normAutofit/>
          </a:bodyPr>
          <a:lstStyle/>
          <a:p>
            <a:pPr algn="just"/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central novelty is a 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class-conditional Knowledge Graph (KG)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approach: for each class, we build a graph where nodes are network blocks and edges represent inter-block activation correlations. </a:t>
            </a:r>
          </a:p>
          <a:p>
            <a:pPr algn="just"/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backdoored model's KG for the target class deviates in a statistically detectable way from clean model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KGs.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7E916-9CDF-44CD-8CDE-1CBDBD62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ology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240C3-E6A2-4505-9C3C-9FC652B1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1E4CA-A63F-4E98-9D95-F911B867F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63417"/>
            <a:ext cx="9144000" cy="560725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07977DE-06A0-46C0-88DE-DBD5E529A19A}"/>
              </a:ext>
            </a:extLst>
          </p:cNvPr>
          <p:cNvSpPr/>
          <p:nvPr/>
        </p:nvSpPr>
        <p:spPr>
          <a:xfrm>
            <a:off x="6069991" y="2404650"/>
            <a:ext cx="590550" cy="709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5A8E17-1A6F-4B53-958B-143E136A4049}"/>
              </a:ext>
            </a:extLst>
          </p:cNvPr>
          <p:cNvSpPr/>
          <p:nvPr/>
        </p:nvSpPr>
        <p:spPr>
          <a:xfrm>
            <a:off x="6749563" y="2404650"/>
            <a:ext cx="590550" cy="709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6FF34F-9A64-4D24-8D86-69EE1A78CDBC}"/>
              </a:ext>
            </a:extLst>
          </p:cNvPr>
          <p:cNvSpPr/>
          <p:nvPr/>
        </p:nvSpPr>
        <p:spPr>
          <a:xfrm>
            <a:off x="5395914" y="2404650"/>
            <a:ext cx="590550" cy="709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5E498F-A869-4228-83B1-2E47A8D814D2}"/>
              </a:ext>
            </a:extLst>
          </p:cNvPr>
          <p:cNvSpPr/>
          <p:nvPr/>
        </p:nvSpPr>
        <p:spPr>
          <a:xfrm>
            <a:off x="8174649" y="2395790"/>
            <a:ext cx="590550" cy="7048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50A88A-F9B1-4ECE-9022-053D33C7DCA9}"/>
              </a:ext>
            </a:extLst>
          </p:cNvPr>
          <p:cNvSpPr/>
          <p:nvPr/>
        </p:nvSpPr>
        <p:spPr>
          <a:xfrm>
            <a:off x="7423640" y="2395790"/>
            <a:ext cx="590550" cy="709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810052-697B-48BF-A3FB-B86F606233C9}"/>
              </a:ext>
            </a:extLst>
          </p:cNvPr>
          <p:cNvSpPr/>
          <p:nvPr/>
        </p:nvSpPr>
        <p:spPr>
          <a:xfrm>
            <a:off x="4716342" y="2404650"/>
            <a:ext cx="590550" cy="709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9CE3AE-E6CD-4997-99B5-39C164459651}"/>
              </a:ext>
            </a:extLst>
          </p:cNvPr>
          <p:cNvSpPr/>
          <p:nvPr/>
        </p:nvSpPr>
        <p:spPr>
          <a:xfrm>
            <a:off x="4011492" y="2428050"/>
            <a:ext cx="590550" cy="709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AD6D78-1D97-4A19-89C9-33B3DEEC5419}"/>
              </a:ext>
            </a:extLst>
          </p:cNvPr>
          <p:cNvSpPr/>
          <p:nvPr/>
        </p:nvSpPr>
        <p:spPr>
          <a:xfrm>
            <a:off x="3334668" y="2428050"/>
            <a:ext cx="590550" cy="709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ACE11B6-124E-472A-9B8F-E1102B9D5CDC}"/>
              </a:ext>
            </a:extLst>
          </p:cNvPr>
          <p:cNvSpPr/>
          <p:nvPr/>
        </p:nvSpPr>
        <p:spPr>
          <a:xfrm>
            <a:off x="2699607" y="2428050"/>
            <a:ext cx="590550" cy="709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928047-CA69-4371-BE43-B189C68F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4D1A22-D97E-48DE-9868-9AEB9D0E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86579-382E-40B3-924D-E8D4A788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63843"/>
            <a:ext cx="8029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2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36D0-A10D-4A21-ACD4-C78CBA64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9F77F-E01E-4D4C-8748-45946D8F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2E1E5-D46F-4C97-8F17-99DB2D657279}"/>
              </a:ext>
            </a:extLst>
          </p:cNvPr>
          <p:cNvSpPr txBox="1"/>
          <p:nvPr/>
        </p:nvSpPr>
        <p:spPr>
          <a:xfrm>
            <a:off x="512740" y="2595860"/>
            <a:ext cx="66989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8 models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models(5- with different seeds)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Backdoor models(3)</a:t>
            </a:r>
          </a:p>
        </p:txBody>
      </p:sp>
    </p:spTree>
    <p:extLst>
      <p:ext uri="{BB962C8B-B14F-4D97-AF65-F5344CB8AC3E}">
        <p14:creationId xmlns:p14="http://schemas.microsoft.com/office/powerpoint/2010/main" val="4168510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76475"/>
            <a:ext cx="7822418" cy="4391025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Class‑conditional activation norms: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Per‑block, per‑class norms under clean vs triggered probes.​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KG / correlation deviations: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 in pairwise correlations between blocks (knowledge graph edges) when the trigger is applied.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confidence deltas: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Difference in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outputs for clean vs triggered probes, focusing on shifts toward a single target class.​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anomaly scores: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Fused measure combining KG deviation and confidence shifts, with robust thresholds derived from a bootstrap null distribution on clean models.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787B5-B3DA-4749-AE38-3DDA5F19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Work(Paper-01)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D2385-B415-4308-A071-B22C3C38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BBE729-B4F7-42FE-BA48-5960C5E9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301100"/>
              </p:ext>
            </p:extLst>
          </p:nvPr>
        </p:nvGraphicFramePr>
        <p:xfrm>
          <a:off x="0" y="3203553"/>
          <a:ext cx="9144000" cy="3529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54283188"/>
                    </a:ext>
                  </a:extLst>
                </a:gridCol>
                <a:gridCol w="3893976">
                  <a:extLst>
                    <a:ext uri="{9D8B030D-6E8A-4147-A177-3AD203B41FA5}">
                      <a16:colId xmlns:a16="http://schemas.microsoft.com/office/drawing/2014/main" val="394120332"/>
                    </a:ext>
                  </a:extLst>
                </a:gridCol>
                <a:gridCol w="2202024">
                  <a:extLst>
                    <a:ext uri="{9D8B030D-6E8A-4147-A177-3AD203B41FA5}">
                      <a16:colId xmlns:a16="http://schemas.microsoft.com/office/drawing/2014/main" val="1709626612"/>
                    </a:ext>
                  </a:extLst>
                </a:gridCol>
              </a:tblGrid>
              <a:tr h="422283">
                <a:tc>
                  <a:txBody>
                    <a:bodyPr/>
                    <a:lstStyle/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391072"/>
                  </a:ext>
                </a:extLst>
              </a:tr>
              <a:tr h="3107281">
                <a:tc>
                  <a:txBody>
                    <a:bodyPr/>
                    <a:lstStyle/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Backdoor Attacks on DNN by Activation Clustering</a:t>
                      </a:r>
                    </a:p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idea: cluster activations from a hidden layer for each class</a:t>
                      </a:r>
                    </a:p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Poisoned examples typically form a separate cluster which can be identified and removed.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detection on traffic-sign datasets and text experiments.</a:t>
                      </a:r>
                    </a:p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 classifiers (CNNs) uses hidden-layer activations, clustering (e.g., K-means) and outlier analysis. </a:t>
                      </a:r>
                    </a:p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Experiments reported on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MNIST, LISA / traffic-sign datasets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text classification examples in the paper.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Degrades when clean &amp; poisoned representations overlap</a:t>
                      </a:r>
                    </a:p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 approach, needs re-training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643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75CE6E4-89C5-42B0-B81F-826C6A504194}"/>
              </a:ext>
            </a:extLst>
          </p:cNvPr>
          <p:cNvSpPr txBox="1"/>
          <p:nvPr/>
        </p:nvSpPr>
        <p:spPr>
          <a:xfrm>
            <a:off x="-226850" y="26300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Title: Detecting Backdoor Attacks on Deep Neural Networks by Activation Clustering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Work(Paper-02)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D2385-B415-4308-A071-B22C3C38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BBE729-B4F7-42FE-BA48-5960C5E9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103216"/>
              </p:ext>
            </p:extLst>
          </p:nvPr>
        </p:nvGraphicFramePr>
        <p:xfrm>
          <a:off x="0" y="2466288"/>
          <a:ext cx="9144000" cy="4391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0482">
                  <a:extLst>
                    <a:ext uri="{9D8B030D-6E8A-4147-A177-3AD203B41FA5}">
                      <a16:colId xmlns:a16="http://schemas.microsoft.com/office/drawing/2014/main" val="1354283188"/>
                    </a:ext>
                  </a:extLst>
                </a:gridCol>
                <a:gridCol w="3648269">
                  <a:extLst>
                    <a:ext uri="{9D8B030D-6E8A-4147-A177-3AD203B41FA5}">
                      <a16:colId xmlns:a16="http://schemas.microsoft.com/office/drawing/2014/main" val="394120332"/>
                    </a:ext>
                  </a:extLst>
                </a:gridCol>
                <a:gridCol w="2575249">
                  <a:extLst>
                    <a:ext uri="{9D8B030D-6E8A-4147-A177-3AD203B41FA5}">
                      <a16:colId xmlns:a16="http://schemas.microsoft.com/office/drawing/2014/main" val="1709626612"/>
                    </a:ext>
                  </a:extLst>
                </a:gridCol>
              </a:tblGrid>
              <a:tr h="4597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391072"/>
                  </a:ext>
                </a:extLst>
              </a:tr>
              <a:tr h="2226647">
                <a:tc>
                  <a:txBody>
                    <a:bodyPr/>
                    <a:lstStyle/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feature extractor + Singular Value Decomposition (SVD) / robust statistics on learned representations;</a:t>
                      </a:r>
                    </a:p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poisoned subpopulation produces a detectable top singular vector (“spectral signature”) used to identify &amp; remove poisons.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+ removal pipeline. </a:t>
                      </a:r>
                    </a:p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CIFAR-10 the authors show that with as few as 250 corrupted examples (≈5% of one class) a backdoor can cause &gt;90% misclassification on backdoored test images; applying spectral-signature removal reduced the misclassification rate on backdoored test points to within ~1% of the clean model’s rate (i.e., effectively removed the backdoor in their experiments).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effective for very low poisoning rates or adaptive attacks.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detection mechanism wasn’t considered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643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9251449-3C81-4815-B4F7-6B49AA09D39D}"/>
              </a:ext>
            </a:extLst>
          </p:cNvPr>
          <p:cNvSpPr txBox="1"/>
          <p:nvPr/>
        </p:nvSpPr>
        <p:spPr>
          <a:xfrm>
            <a:off x="104775" y="209192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Title: Spectral Signatures in Backdoor Attacks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43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Work(Paper-03)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D2385-B415-4308-A071-B22C3C38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BBE729-B4F7-42FE-BA48-5960C5E9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01587"/>
              </p:ext>
            </p:extLst>
          </p:nvPr>
        </p:nvGraphicFramePr>
        <p:xfrm>
          <a:off x="0" y="2344454"/>
          <a:ext cx="9144000" cy="4391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633">
                  <a:extLst>
                    <a:ext uri="{9D8B030D-6E8A-4147-A177-3AD203B41FA5}">
                      <a16:colId xmlns:a16="http://schemas.microsoft.com/office/drawing/2014/main" val="1354283188"/>
                    </a:ext>
                  </a:extLst>
                </a:gridCol>
                <a:gridCol w="3564294">
                  <a:extLst>
                    <a:ext uri="{9D8B030D-6E8A-4147-A177-3AD203B41FA5}">
                      <a16:colId xmlns:a16="http://schemas.microsoft.com/office/drawing/2014/main" val="394120332"/>
                    </a:ext>
                  </a:extLst>
                </a:gridCol>
                <a:gridCol w="2034073">
                  <a:extLst>
                    <a:ext uri="{9D8B030D-6E8A-4147-A177-3AD203B41FA5}">
                      <a16:colId xmlns:a16="http://schemas.microsoft.com/office/drawing/2014/main" val="1709626612"/>
                    </a:ext>
                  </a:extLst>
                </a:gridCol>
              </a:tblGrid>
              <a:tr h="4597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391072"/>
                  </a:ext>
                </a:extLst>
              </a:tr>
              <a:tr h="2226647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BaDLoss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identifies examples with anomalous loss trajectories relative to a small set of bona-fide clean examples, filters them out, and retrains the model on the filtered dataset.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Loss-trajectory anomaly detection is robust in the multi-attack setting (multiple different backdoors present simultaneously)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an average attack success rate of ~7.98% on CIFAR-10, ~10.29% on GTSRB, and ~19.17% on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Imagenette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whereas the average of other defenses in the multi-attack setting is reported as ~63.44% (CIFAR-10), ~74.83% (GTSRB) and ~41.74%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Imagenette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 On ImageNet-1k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BaDLoss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reduced average ASR from 88.57% → 15.61% in the multi-attack experiments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retraining after filtering (i.e., the defense pipeline is not purely online, it is a filter-then-retrain approach)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643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B6F600-38E5-4353-9886-075EB191D4F7}"/>
              </a:ext>
            </a:extLst>
          </p:cNvPr>
          <p:cNvSpPr txBox="1"/>
          <p:nvPr/>
        </p:nvSpPr>
        <p:spPr>
          <a:xfrm>
            <a:off x="-93500" y="205132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Title: Protecting against simultaneous data poisoning attacks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102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Work(Paper-04)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D2385-B415-4308-A071-B22C3C38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BBE729-B4F7-42FE-BA48-5960C5E9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958732"/>
              </p:ext>
            </p:extLst>
          </p:nvPr>
        </p:nvGraphicFramePr>
        <p:xfrm>
          <a:off x="0" y="2740608"/>
          <a:ext cx="9144000" cy="4117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5428318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412033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09626612"/>
                    </a:ext>
                  </a:extLst>
                </a:gridCol>
              </a:tblGrid>
              <a:tr h="4597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391072"/>
                  </a:ext>
                </a:extLst>
              </a:tr>
              <a:tr h="2226647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Persistent Pre-training Poisoning of LLMs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idea: empirically shows that tiny rates of poisoning during pre-training can persist through subsequent fine-tuning and alignment, causing persistent malicious behaviors.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findings include that poisoning 0.1% of pre-training data is sufficient for several attack types to persist after fine-tuning/alignment (authors report persistence for 3 out of 4 studied attacks)</a:t>
                      </a:r>
                    </a:p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small rates (e.g., 0.001%) can produce persistence for some simple DOS style behaviors.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</a:t>
                      </a:r>
                      <a:r>
                        <a:rPr lang="en-US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provide a training-time defense; experiments require large compute (pre-training), so direct reproduction is heavy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motivate the need for training-time defenses but are not a plug-in baseline detector.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6430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68F5406-69FF-4ABB-84DF-003368329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8045"/>
            <a:ext cx="9144000" cy="4089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E9F94C-6C14-4789-93FE-A69B1AE2B280}"/>
              </a:ext>
            </a:extLst>
          </p:cNvPr>
          <p:cNvSpPr txBox="1"/>
          <p:nvPr/>
        </p:nvSpPr>
        <p:spPr>
          <a:xfrm>
            <a:off x="-179225" y="2200329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Title: Persistent Pre-training poisoning of LLMs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32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Work(Paper-05)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D2385-B415-4308-A071-B22C3C38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BBE729-B4F7-42FE-BA48-5960C5E9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535947"/>
              </p:ext>
            </p:extLst>
          </p:nvPr>
        </p:nvGraphicFramePr>
        <p:xfrm>
          <a:off x="0" y="3022158"/>
          <a:ext cx="9144000" cy="384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54283188"/>
                    </a:ext>
                  </a:extLst>
                </a:gridCol>
                <a:gridCol w="3483429">
                  <a:extLst>
                    <a:ext uri="{9D8B030D-6E8A-4147-A177-3AD203B41FA5}">
                      <a16:colId xmlns:a16="http://schemas.microsoft.com/office/drawing/2014/main" val="394120332"/>
                    </a:ext>
                  </a:extLst>
                </a:gridCol>
                <a:gridCol w="2612571">
                  <a:extLst>
                    <a:ext uri="{9D8B030D-6E8A-4147-A177-3AD203B41FA5}">
                      <a16:colId xmlns:a16="http://schemas.microsoft.com/office/drawing/2014/main" val="1709626612"/>
                    </a:ext>
                  </a:extLst>
                </a:gridCol>
              </a:tblGrid>
              <a:tr h="4597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391072"/>
                  </a:ext>
                </a:extLst>
              </a:tr>
              <a:tr h="2226647">
                <a:tc>
                  <a:txBody>
                    <a:bodyPr/>
                    <a:lstStyle/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Backdoor Defense via Test-Time Detecting and Repairing </a:t>
                      </a:r>
                    </a:p>
                    <a:p>
                      <a:pPr marL="285750" marR="0" lvl="0" indent="-2857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idea: two-stage framework (1) detect poisoned samples in a partially-poisoned test batch; (2) guide neuron pruning using Shapley-value estimation to repair the model at test time.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report that TTBD can remove backdoors using </a:t>
                      </a:r>
                      <a:r>
                        <a:rPr lang="en-US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single batch of partially-poisoned test data (≈100 images)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can repair models across multiple architectures and datasets </a:t>
                      </a:r>
                      <a:r>
                        <a:rPr lang="en-US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 only a small decrease in clean accuracy; 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Experiments show effectiveness against several backdoor attack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accuracy and pruning efficacy vary across architectures and attacks 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“unlearn” poison from training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6430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DAC75DB-45AA-470F-97BE-6CEABFE5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1" y="2339460"/>
            <a:ext cx="9032033" cy="47258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64014A-5C06-4183-8D21-0B8540935E95}"/>
              </a:ext>
            </a:extLst>
          </p:cNvPr>
          <p:cNvSpPr txBox="1"/>
          <p:nvPr/>
        </p:nvSpPr>
        <p:spPr>
          <a:xfrm>
            <a:off x="-182142" y="213023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Title: Backdoor Defense via Test-Time Detecting and Repairing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79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076" y="579632"/>
            <a:ext cx="8229600" cy="1143000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Models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5896FB4-EE35-4387-94E9-079F2E2F0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6627800"/>
              </p:ext>
            </p:extLst>
          </p:nvPr>
        </p:nvGraphicFramePr>
        <p:xfrm>
          <a:off x="283028" y="2196777"/>
          <a:ext cx="8425543" cy="3879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F1627-C52D-41BB-B083-852559BD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775765" cy="3530600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Accuracy (CA):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accuracy on clean test data after defense.​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 Success Rate (ASR):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fraction of triggered test inputs mapped to the attacker’s target.​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AUROC: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AUROC for model‑level / class‑level detection of backdoored behavior (e.g., from class‑conditional anomaly scores).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Localization Quality: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precision / recall / F1 of flagged blocks against empirical “ground‑truth” backdoor blocks derived from pruning sweeps.​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(Optional)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Runtime / overhead: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extra cost of KG and pruning compared to simple Fine‑Pruning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6F657-CC39-4AF4-BFAB-BB176484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199"/>
            <a:ext cx="7936718" cy="3616325"/>
          </a:xfrm>
        </p:spPr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 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ASR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across multiple backdoor types (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BadNets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Blended,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WaNet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with 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minimal drop in clean accuracy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(comparable to or improving on Fine‑Pruning).​​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Reliable 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model‑level detection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target‑class identification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from class‑conditional anomaly scores.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 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localization of backdoor‑relevant blocks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enabling smaller and more targeted pruning.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5A852-F93F-425D-A890-AFB9B371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605542" cy="35306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b="0" i="0" dirty="0">
                <a:effectLst/>
                <a:latin typeface="pplxSerif"/>
              </a:rPr>
              <a:t>Propose a </a:t>
            </a:r>
            <a:r>
              <a:rPr lang="en-US" sz="2800" b="1" i="0" dirty="0">
                <a:effectLst/>
                <a:latin typeface="pplxSerif"/>
              </a:rPr>
              <a:t>guided repair pipeline</a:t>
            </a:r>
            <a:r>
              <a:rPr lang="en-US" sz="2800" b="0" i="0" dirty="0">
                <a:effectLst/>
                <a:latin typeface="pplxSerif"/>
              </a:rPr>
              <a:t> that: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pplxSerif"/>
              </a:rPr>
              <a:t>L</a:t>
            </a:r>
            <a:r>
              <a:rPr lang="en-US" sz="2800" b="0" i="0" dirty="0">
                <a:effectLst/>
                <a:latin typeface="pplxSerif"/>
              </a:rPr>
              <a:t>ocalizes suspicious blocks,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pplxSerif"/>
              </a:rPr>
              <a:t>P</a:t>
            </a:r>
            <a:r>
              <a:rPr lang="en-US" sz="2800" b="0" i="0" dirty="0">
                <a:effectLst/>
                <a:latin typeface="pplxSerif"/>
              </a:rPr>
              <a:t>erforms structured pruning,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pplxSerif"/>
              </a:rPr>
              <a:t>S</a:t>
            </a:r>
            <a:r>
              <a:rPr lang="en-US" sz="2800" b="0" i="0" dirty="0">
                <a:effectLst/>
                <a:latin typeface="pplxSerif"/>
              </a:rPr>
              <a:t>tabilizes clean performance via layer‑wise FT + KD from a clean teacher.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89D7B-453F-4DC6-B60E-CCEF1A5C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6E7B-CE07-41F1-B4EA-79C4986E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A704E-666F-4ED7-8A11-FE09CDA2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6FFB6-7D67-4255-9347-D528D108C8AE}"/>
              </a:ext>
            </a:extLst>
          </p:cNvPr>
          <p:cNvSpPr txBox="1"/>
          <p:nvPr/>
        </p:nvSpPr>
        <p:spPr>
          <a:xfrm>
            <a:off x="514327" y="2514582"/>
            <a:ext cx="81248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 fusion: 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KG anomaly only vs confidence‑delta only vs fused; impact on detection AUROC and localization quality.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Pruning strategy: 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guided pruning vs unguided Fine‑Pruning; compare CA / ASR curves vs prune ratio.​​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KD vs no KD: 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and without KD (T=4, </a:t>
            </a:r>
            <a:r>
              <a:rPr lang="el-GR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α=0.5);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 on recovered clean accuracy and residual ASR.​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 in KNN graph: 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vary K (e.g., 2–9) and measure detection AUROC and stability.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(Optional) Trigger types: 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BadNets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 Blended vs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WaNet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sensitivity of KG‑based scores across attack families.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474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4974F-CB80-4CD1-A67B-570AC0E3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KG-outputs(8-models)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D0C1D-B7B9-41A0-869B-877E64B6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9CA81-31E1-469D-A44C-17CE277F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B7B72D-5C4E-467C-9581-F2FCC9620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551"/>
            <a:ext cx="9144000" cy="494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8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4A9C-7E08-47F9-A94D-ADAA73866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69" y="927098"/>
            <a:ext cx="7868073" cy="709865"/>
          </a:xfrm>
        </p:spPr>
        <p:txBody>
          <a:bodyPr/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 Anomaly Metric Functions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E29D-90BC-4B6D-BDB2-E57AC494D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870043" cy="35306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eightedDegree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Per-node sum of absolute edge weights. For each block node, it sums all its edge weights. A backdoored block tends to have an abnormally high or low weighted degree compared to clean models — its activation correlations with other blocks shift.​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spectralEnergy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Per-node squared contribution to the leading eigenvector of the adjacency matrix. It finds the dominant eigenvector v1 of W (via 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np.linalg.eigh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returns v1² per node. Backdoored blocks distort the spectral structure of the graph.​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betweenness(G, W)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Betweenness centrality — measures how often a node lies on the shortest path between other nodes. A backdoored block may become a bottleneck or become isolated, changing its centrality. Falls back to degree centrality if the graph is disconnected.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C71F2-7152-4078-B62A-83DA0939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78615" y="295730"/>
            <a:ext cx="981461" cy="767687"/>
          </a:xfrm>
        </p:spPr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FDAB8C-FED3-4584-B6D2-634F90CBB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42" y="5631004"/>
            <a:ext cx="7658100" cy="112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1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D872-BDA7-47F6-82DF-BA8881975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Baseline-comparison-1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792ED1-1DEF-4239-8680-5DB10B2BE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476" y="2458084"/>
            <a:ext cx="8158799" cy="276161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67FBE-D2DC-4CFC-9AD5-56ECBF0D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77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A407-92FC-45B0-B99C-B712127D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Baseline-comparison-2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E7094-0EDE-4209-B98A-2AA3C406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8BF1D1-08BF-42AC-9C38-A3C668DB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2" y="2638424"/>
            <a:ext cx="8135017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838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60DA-5FE2-47DA-B268-1EF3EEBF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K=5?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026B2F-B9BC-4415-9E08-CAF64FFFD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016" y="2752725"/>
            <a:ext cx="7847244" cy="2687741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1FBB7-6D64-4E40-8432-247580A1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62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991F9-3DC0-4331-8495-C7068F1B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1EDFD-9811-4E63-ACB7-5C501EA26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84" y="1747486"/>
            <a:ext cx="8459381" cy="5039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1B9F66-0FE9-481C-9783-9F0EECD4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62" y="1776065"/>
            <a:ext cx="8421275" cy="49822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C61687-0331-42C6-8F87-263F94BF9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95" y="1914196"/>
            <a:ext cx="8383170" cy="48870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E9B1A8-DDAE-47A5-911F-B8570FC37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6584" y="1747486"/>
            <a:ext cx="9144000" cy="56807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FCBE5B-9487-4F08-AF11-79B3762B1187}"/>
              </a:ext>
            </a:extLst>
          </p:cNvPr>
          <p:cNvSpPr txBox="1"/>
          <p:nvPr/>
        </p:nvSpPr>
        <p:spPr>
          <a:xfrm>
            <a:off x="674075" y="833134"/>
            <a:ext cx="6841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 accuracy(Backdoor And Clean Models)(Note-book-1)</a:t>
            </a:r>
          </a:p>
        </p:txBody>
      </p:sp>
    </p:spTree>
    <p:extLst>
      <p:ext uri="{BB962C8B-B14F-4D97-AF65-F5344CB8AC3E}">
        <p14:creationId xmlns:p14="http://schemas.microsoft.com/office/powerpoint/2010/main" val="37278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991F9-3DC0-4331-8495-C7068F1B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DD008-0720-4B7A-B057-0D58B25AD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2012"/>
            <a:ext cx="9144000" cy="38370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205CC4-A4C4-4EEC-A9B0-8508DF3FCBC0}"/>
              </a:ext>
            </a:extLst>
          </p:cNvPr>
          <p:cNvSpPr txBox="1"/>
          <p:nvPr/>
        </p:nvSpPr>
        <p:spPr>
          <a:xfrm>
            <a:off x="752475" y="978835"/>
            <a:ext cx="5735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Notebook-1(Results)</a:t>
            </a:r>
          </a:p>
        </p:txBody>
      </p:sp>
    </p:spTree>
    <p:extLst>
      <p:ext uri="{BB962C8B-B14F-4D97-AF65-F5344CB8AC3E}">
        <p14:creationId xmlns:p14="http://schemas.microsoft.com/office/powerpoint/2010/main" val="1430127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991F9-3DC0-4331-8495-C7068F1B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603A4-D0B9-42AE-B9A8-FCD7E9B71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726793"/>
            <a:ext cx="9144000" cy="2471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A1F256-D809-498D-8EB1-D7339E3F646F}"/>
              </a:ext>
            </a:extLst>
          </p:cNvPr>
          <p:cNvSpPr txBox="1"/>
          <p:nvPr/>
        </p:nvSpPr>
        <p:spPr>
          <a:xfrm>
            <a:off x="752475" y="978835"/>
            <a:ext cx="5735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Notebook-1(Results)</a:t>
            </a:r>
          </a:p>
        </p:txBody>
      </p:sp>
    </p:spTree>
    <p:extLst>
      <p:ext uri="{BB962C8B-B14F-4D97-AF65-F5344CB8AC3E}">
        <p14:creationId xmlns:p14="http://schemas.microsoft.com/office/powerpoint/2010/main" val="1793428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7C6286-9975-453E-BF25-12A202F40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991F9-3DC0-4331-8495-C7068F1B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5ACD1-3B56-4315-B812-252C703D5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372893"/>
            <a:ext cx="9144000" cy="344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800FA-8EFD-4330-AA98-BAA0AC259602}"/>
              </a:ext>
            </a:extLst>
          </p:cNvPr>
          <p:cNvSpPr txBox="1"/>
          <p:nvPr/>
        </p:nvSpPr>
        <p:spPr>
          <a:xfrm>
            <a:off x="752475" y="978835"/>
            <a:ext cx="5735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Notebook-2(Results)</a:t>
            </a:r>
          </a:p>
        </p:txBody>
      </p:sp>
    </p:spTree>
    <p:extLst>
      <p:ext uri="{BB962C8B-B14F-4D97-AF65-F5344CB8AC3E}">
        <p14:creationId xmlns:p14="http://schemas.microsoft.com/office/powerpoint/2010/main" val="3084984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991F9-3DC0-4331-8495-C7068F1B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39D8A-FBD9-4645-A24A-9EF8AC7FF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2561773"/>
            <a:ext cx="9144000" cy="2915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D05CB0-1A65-4C19-BE9B-1180CE224F76}"/>
              </a:ext>
            </a:extLst>
          </p:cNvPr>
          <p:cNvSpPr txBox="1"/>
          <p:nvPr/>
        </p:nvSpPr>
        <p:spPr>
          <a:xfrm>
            <a:off x="752475" y="978835"/>
            <a:ext cx="5735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Notebook-2(Results)</a:t>
            </a:r>
          </a:p>
        </p:txBody>
      </p:sp>
    </p:spTree>
    <p:extLst>
      <p:ext uri="{BB962C8B-B14F-4D97-AF65-F5344CB8AC3E}">
        <p14:creationId xmlns:p14="http://schemas.microsoft.com/office/powerpoint/2010/main" val="2325294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0C7D1-BBF9-4C86-A086-90D51C4E3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812646" cy="709865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Configuration – Defense Type, Key Settings &amp; Results</a:t>
            </a:r>
            <a:br>
              <a:rPr 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470C7-1F90-4598-AB0C-E2362E78A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2BC0F9-641B-4E7B-9F69-5D75223E5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242677"/>
              </p:ext>
            </p:extLst>
          </p:nvPr>
        </p:nvGraphicFramePr>
        <p:xfrm>
          <a:off x="185810" y="1528780"/>
          <a:ext cx="8772380" cy="5329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71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64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56549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Defense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Verdict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8678"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CUSUM online defense, single-signal 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CIFAR‑10, ResNet‑18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BadNets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4×4 patch, 5% poison, target 0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(plane)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CUSUM on grad_norm / grad_cosine / loss_diff with warmup; hard skip when alarm; various (h,k), σ floors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Warmup on clean; σ often ≈0 for grad_cosine/loss_diff; later added σ floors to avoid blow‑up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low 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floors: skip rate ≈100%, clean acc ≈25% (random); for higher h/floors: skip ≈0%, final ASR ≈94%, clean acc ≈72% (near no‑defense)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Fails to achieve any useful CA/ASR tradeoff (either over‑ or under‑sensitive)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3992"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CUSUM ensemble (</a:t>
                      </a:r>
                      <a:r>
                        <a:rPr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grad_norm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grad_cosine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loss_diff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CIFAR‑10, ResNet‑18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BadNets as 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Unsupervised ensemble that reweights three CUSUM detectors by “stability + activity” over sliding window; still uses hard skip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k,h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tuned; sliding window B≈50; weights logged over ~4.7k steps (weights converging to ≈[0.26, 0.37, 0.37])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 trajectories converge to near-uniform; global SkipRate≈100% in a representative run (training collapse) or ≈0% in relaxed config; final ASR remains ≈94% when training is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Also fails: ensemble never finds a regime with both high CA and low ASR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737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852E-4CDB-4191-85D0-64BF1FDD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CUSUM (</a:t>
            </a:r>
            <a:r>
              <a:rPr lang="en-US" sz="2800" b="1" dirty="0" err="1"/>
              <a:t>k,h</a:t>
            </a:r>
            <a:r>
              <a:rPr lang="en-US" sz="2800" b="1" dirty="0"/>
              <a:t>) – Warmup Design, Skip Behavior &amp; Performance Results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DF4D0-6CD0-4392-BB25-932621C3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ABD4F4-1368-48D0-B058-81B290F69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545358"/>
              </p:ext>
            </p:extLst>
          </p:nvPr>
        </p:nvGraphicFramePr>
        <p:xfrm>
          <a:off x="274320" y="1808198"/>
          <a:ext cx="8799189" cy="477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44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Notebook /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CUSUM k,h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Warmup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Skip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Test Accuracy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Success Rate ASR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defense all signals”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k=0.5, h=5.0 (4 signals)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Warmup 5 epochs on clean; baselines from gradnorm, gradcosine, actdiv, lossdiff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alarms; some epochs fully skipped (warning “All batches skipped”)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~1% ASR reduction vs baseline 98.0; TPR 60.5%, FPR 57.69%; 99.84% of skipped batches actually poisoned, but defense too aggressive on late epochs.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in same fork (no defense, poisoned training)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warmup/defense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skipping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94.05 (reported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</a:t>
                      </a:r>
                      <a:r>
                        <a:rPr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BadNets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baseline: high clean accuracy and very high ASR; used as reference for Experiment 3 evaluation.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9738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693A-4DB9-4F65-B57A-93913D08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2BFD54-3F13-4622-94E6-A2088B2FD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FCE0D8-5951-40D8-8F0A-7F3259A13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109124"/>
              </p:ext>
            </p:extLst>
          </p:nvPr>
        </p:nvGraphicFramePr>
        <p:xfrm>
          <a:off x="172405" y="4199257"/>
          <a:ext cx="8799189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305">
                  <a:extLst>
                    <a:ext uri="{9D8B030D-6E8A-4147-A177-3AD203B41FA5}">
                      <a16:colId xmlns:a16="http://schemas.microsoft.com/office/drawing/2014/main" val="3477589379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1988795224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33160453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584650460"/>
                    </a:ext>
                  </a:extLst>
                </a:gridCol>
                <a:gridCol w="909312">
                  <a:extLst>
                    <a:ext uri="{9D8B030D-6E8A-4147-A177-3AD203B41FA5}">
                      <a16:colId xmlns:a16="http://schemas.microsoft.com/office/drawing/2014/main" val="1171277015"/>
                    </a:ext>
                  </a:extLst>
                </a:gridCol>
                <a:gridCol w="1062363">
                  <a:extLst>
                    <a:ext uri="{9D8B030D-6E8A-4147-A177-3AD203B41FA5}">
                      <a16:colId xmlns:a16="http://schemas.microsoft.com/office/drawing/2014/main" val="90076021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353247675"/>
                    </a:ext>
                  </a:extLst>
                </a:gridCol>
                <a:gridCol w="1844034">
                  <a:extLst>
                    <a:ext uri="{9D8B030D-6E8A-4147-A177-3AD203B41FA5}">
                      <a16:colId xmlns:a16="http://schemas.microsoft.com/office/drawing/2014/main" val="1430396997"/>
                    </a:ext>
                  </a:extLst>
                </a:gridCol>
              </a:tblGrid>
              <a:tr h="9692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E4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master-adaptive-2.ipynb– temporal variance fix, higher </a:t>
                      </a:r>
                      <a:r>
                        <a:rPr sz="1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k,h</a:t>
                      </a:r>
                      <a:endParaRPr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k=0.7, h=7.0 (3 signals, temporal)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Warmup uses batch‑to‑batch grad cosine and loss diff, not static zero‑variance; σ floored to 1e‑6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Skips only when strong deviations; no “all batches skipped” pattern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(Final values not logged in snippet; same CIFAR‑10 / BadNets / ResNet‑18 setting with improved stability)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66.89%</a:t>
                      </a:r>
                      <a:endParaRPr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run fixes the variance pathology and stabilizes defense; full final numbers need reading from end of notebook logs for precise CTA/ASR.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7070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FC7E97-405C-4A15-8A89-F1401D64D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83919"/>
              </p:ext>
            </p:extLst>
          </p:nvPr>
        </p:nvGraphicFramePr>
        <p:xfrm>
          <a:off x="172404" y="2183732"/>
          <a:ext cx="879918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305">
                  <a:extLst>
                    <a:ext uri="{9D8B030D-6E8A-4147-A177-3AD203B41FA5}">
                      <a16:colId xmlns:a16="http://schemas.microsoft.com/office/drawing/2014/main" val="239341889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444350011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4088283669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661330687"/>
                    </a:ext>
                  </a:extLst>
                </a:gridCol>
                <a:gridCol w="909312">
                  <a:extLst>
                    <a:ext uri="{9D8B030D-6E8A-4147-A177-3AD203B41FA5}">
                      <a16:colId xmlns:a16="http://schemas.microsoft.com/office/drawing/2014/main" val="632217050"/>
                    </a:ext>
                  </a:extLst>
                </a:gridCol>
                <a:gridCol w="1062363">
                  <a:extLst>
                    <a:ext uri="{9D8B030D-6E8A-4147-A177-3AD203B41FA5}">
                      <a16:colId xmlns:a16="http://schemas.microsoft.com/office/drawing/2014/main" val="1624444587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914216908"/>
                    </a:ext>
                  </a:extLst>
                </a:gridCol>
                <a:gridCol w="1844034">
                  <a:extLst>
                    <a:ext uri="{9D8B030D-6E8A-4147-A177-3AD203B41FA5}">
                      <a16:colId xmlns:a16="http://schemas.microsoft.com/office/drawing/2014/main" val="927685454"/>
                    </a:ext>
                  </a:extLst>
                </a:gridCol>
              </a:tblGrid>
              <a:tr h="9692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E3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h3-k3-adaptive.ipynb– stricter CUSUM, h=3,k=0.3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k=0.3, h=3.0 (3 signals)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warmup epoch on Val‑clean; zero‑variance gradcosine and lossdiff baselines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skip rate after warmup: all batches alarmed, no updates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23.90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7.88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never learns; training loss 0, </a:t>
                      </a:r>
                      <a:r>
                        <a:rPr sz="1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acc stuck near random; ASR appears low only because classifier is essentially random and very weak.</a:t>
                      </a:r>
                    </a:p>
                  </a:txBody>
                  <a:tcPr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96056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E262CD4-D575-445D-AF8D-481C143A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194525"/>
            <a:ext cx="9144000" cy="253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8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1CE9-7DE7-48FC-9208-6D95643C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Configuration &amp; Results Summary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EC2B1-106F-42E3-9356-52C47BFA8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1CDE8-FAC5-4283-9831-876900FE6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C4F800-0B8B-4060-9745-F3C06495A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64203"/>
              </p:ext>
            </p:extLst>
          </p:nvPr>
        </p:nvGraphicFramePr>
        <p:xfrm>
          <a:off x="388620" y="1636963"/>
          <a:ext cx="859536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1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Notebook /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CUSUM k,h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Warmup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Skip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Test Accuracy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Success Rate ASR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fork-3-1defence.ipynb– “Full defense all signals”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k=0.5, h=5.0 (4 signals)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Warmup 5 epochs on clean; baselines from gradnorm, gradcosine, actdiv, lossdiff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Many alarms; some epochs fully skipped (warning “All batches skipped”)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86.97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96.97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Only ~1% ASR reduction vs baseline 98.0; TPR 60.5%, FPR 57.69%; 99.84% of skipped batches actually poisoned, but defense too aggressive on late epochs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Baseline in same fork (no defense, poisoned training)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No warmup/defense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No skipping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94.05 (reported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98.04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Standard BadNets baseline: high clean accuracy and very high ASR; used as reference for Experiment 3 evaluation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fork1-h3-k3-adaptive.ipynb– stricter CUSUM, h=3,k=0.3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k=0.3, h=3.0 (3 signals)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 warmup epoch on Val‑clean; zero‑variance gradcosine and lossdiff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100% skip rate after warmup: all batches alarmed, no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7.88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Model never learns; training loss 0, val acc stuck near random; ASR appears low only because classifier is essentially random and very weak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master-adaptive-2.ipynb– temporal variance fix, higher k,h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k=0.7, h=7.0 (3 signals, temporal)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Warmup uses batch‑to‑batch grad cosine and loss diff, not static zero‑variance; σ floored to 1e‑6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Skips only when strong deviations; no “all batches skipped”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(Final values not logged in snippet; same CIFAR‑10 / BadNets / ResNet‑18 setting with improved stability)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(Same as above)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This run fixes the variance pathology and stabilizes defense; full final numbers need reading from end of notebook logs for precise CTA/ASR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512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34D3-ACB3-4D70-AF1D-09B4A2562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Configuration – Metric Results &amp; Verdict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E0B1B-DDCD-4CBA-AA6B-9C5990F3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D51036-5C56-4E6F-B433-1A7A83FF9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242850"/>
              </p:ext>
            </p:extLst>
          </p:nvPr>
        </p:nvGraphicFramePr>
        <p:xfrm>
          <a:off x="274320" y="1005840"/>
          <a:ext cx="8777121" cy="666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53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34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1158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Representation &amp; VAE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Verdict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CUSUM-based online detector (earlier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CIFAR‑10, ResNet‑18 (11.18M params)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BadNets, 4×4 white patch, bottom-right, 5% poison, target class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SGD, 30 epochs, lr 0.1, momentum 0.9, wd 5e‑4, 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Signals: grad_norm, grad_cosine, loss_diff; CUSUM with zero‑variance warmup and multiple (h,k) configs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Skip rate ≈100%, clean acc ≈25% (random), ASR undefined/irrelevant; for “fixed” σ‑floor configs: skip→0%, ASR ≈94% (no reduction)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Catastrophic failure: either kills training (100% skip) or degenerates to no-defense (0% skip, ASR ≈94%)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VAE signal v1 (pooled activations, batch‑mean scores)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CIFAR‑10, ResNet‑18 pretrained on 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BadNets, 3×3 white patch, bottom-right, 5% poison, target class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Fine‑tuning: SGD, lr 0.01, momentum 0.9, wd 5e‑4, cosine annealing, 30 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Layer: pooled layer4 (512‑d); VAE: 3‑layer MLP, latent_dim=64, β=0.001, trained on first 50 clean batches; anomaly on batch‑mean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Per‑sample AUROC (combined) ≈0.415 on poisoned vs 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NO‑GO: VAE + batch‑mean pooling fails as a usable 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VAE signal v2 (per-sample scores, spatial vs pooled)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CIFAR‑10, ResNet‑18 pretrained on 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 err="1"/>
                        <a:t>BadNets</a:t>
                      </a:r>
                      <a:r>
                        <a:rPr dirty="0"/>
                        <a:t>, 3×3 white patch, bottom-right, 5% poison, 2500/50000 poisoned from non‑target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Fine‑tuning: SGD, lr 0.01, momentum 0.9, wd 5e‑4, cosine annealing, 30 epochs; clean test acc per epoch: 72.7→86.9%; ASR per epoch: 85.3→95.2% (strong attack)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VAEs (3‑layer MLP, latent_dim=64, β=0.001) trained on pre‑finetune activations: layer3 spatial (4096‑d), layer4 spatial (2048‑d), layer4 pooled (512‑d control);per-samplerecon + KL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Layer4 spatial (2048‑d): poisoned mean=1.524±0.781, clean mean=0.620±1.210, d=0.889; AUROC: combined 0.926, recon 0.906, KL 0.960. Layer3 spatial (4096‑d): d=0.975; AUROC: combined 0.795, recon 0.910, KL 0.574. Layer4 pooled (512‑d): d=0.884; AUROC: combined 0.923, recon 0.891, KL 0.968.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GO: clear per‑sample separation; best representation = layer4 spatial, KL‑based anomaly (AUROC 0.960)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8232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D81E-B256-4A3A-9ADA-68304008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966F-AA23-4809-90F4-A449D0917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2171700"/>
            <a:ext cx="8410574" cy="4686300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Chen, B., et al. (2018). Detecting Backdoor Attacks on Deep Neural Networks by Activation Clustering.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arXiv:1811.03728.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Tran, B., Li, J., &amp;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Madry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 (2018). Spectral Signatures in Backdoor Attacks. In Advances in Neural Information Processing Systems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2018).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Alex, N., Siddiqui, S.A., Sanyal, A., &amp; Krueger, D. (2023). Protecting against simultaneous data poisoning attacks. 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Anonymous. (2024). Test-Time Backdoor Defense (TTBD). In Proceedings of the IEEE/CVF Conference on Computer Vision and Pattern Recognition (CVPR 2024).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Zhang, Y., Rando, J.,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Evtimov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I., Chi, J., Smith, E.M.,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Carlini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N.,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Tramèr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F., &amp; Ippolito, D. (2024). Persistent Pre-training Poisoning of LLMs.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arXiv:2406.16879.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31820-C0F9-4C49-9830-BC480FA1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440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2C505E-3A25-49C5-A9B9-8A67E138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  <p:pic>
        <p:nvPicPr>
          <p:cNvPr id="1026" name="Picture 2" descr="Free Thank you Any Questions Templates">
            <a:extLst>
              <a:ext uri="{FF2B5EF4-FFF2-40B4-BE49-F238E27FC236}">
                <a16:creationId xmlns:a16="http://schemas.microsoft.com/office/drawing/2014/main" id="{B308713C-17D8-4E3A-ACB9-7C5230225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7919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5695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2021</TotalTime>
  <Words>3574</Words>
  <Application>Microsoft Office PowerPoint</Application>
  <PresentationFormat>On-screen Show (4:3)</PresentationFormat>
  <Paragraphs>327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Century Gothic</vt:lpstr>
      <vt:lpstr>pplxSerif</vt:lpstr>
      <vt:lpstr>Times New Roman</vt:lpstr>
      <vt:lpstr>Wingdings</vt:lpstr>
      <vt:lpstr>Wingdings 3</vt:lpstr>
      <vt:lpstr>Ion Boardroom</vt:lpstr>
      <vt:lpstr>Detecting and repairing backdoored neural networks using guided pruning, and knowledge distillation.</vt:lpstr>
      <vt:lpstr>Introduction</vt:lpstr>
      <vt:lpstr>Goal</vt:lpstr>
      <vt:lpstr>Problem Statement</vt:lpstr>
      <vt:lpstr>Three Attacks </vt:lpstr>
      <vt:lpstr>Attack Configuration</vt:lpstr>
      <vt:lpstr>Applications</vt:lpstr>
      <vt:lpstr>Core Idea</vt:lpstr>
      <vt:lpstr>Proposed Methodology</vt:lpstr>
      <vt:lpstr>PowerPoint Presentation</vt:lpstr>
      <vt:lpstr>Total models</vt:lpstr>
      <vt:lpstr>Signals Used</vt:lpstr>
      <vt:lpstr>Related Work(Paper-01)</vt:lpstr>
      <vt:lpstr>Related Work(Paper-02)</vt:lpstr>
      <vt:lpstr>Related Work(Paper-03)</vt:lpstr>
      <vt:lpstr>Related Work(Paper-04)</vt:lpstr>
      <vt:lpstr>Related Work(Paper-05)</vt:lpstr>
      <vt:lpstr>Dataset and Models</vt:lpstr>
      <vt:lpstr>Evaluation Metrics</vt:lpstr>
      <vt:lpstr>Expected Outcomes</vt:lpstr>
      <vt:lpstr>Contributions &amp; Impact</vt:lpstr>
      <vt:lpstr>Ablation Study</vt:lpstr>
      <vt:lpstr>KG-outputs(8-models)</vt:lpstr>
      <vt:lpstr>Graph Anomaly Metric Functions</vt:lpstr>
      <vt:lpstr>Baseline-comparison-1</vt:lpstr>
      <vt:lpstr>Baseline-comparison-2</vt:lpstr>
      <vt:lpstr>Why K=5?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Attack Configuration – Defense Type, Key Settings &amp; Results </vt:lpstr>
      <vt:lpstr>CUSUM (k,h) – Warmup Design, Skip Behavior &amp; Performance Results </vt:lpstr>
      <vt:lpstr>PowerPoint Presentation</vt:lpstr>
      <vt:lpstr>Experimental Configuration &amp; Results Summary </vt:lpstr>
      <vt:lpstr>VAE Configuration – Metric Results &amp; Verdict 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Online Detection and Defense Against Data Poisoning via Transient Optimization Dynamics</dc:title>
  <dc:subject/>
  <dc:creator>ASUS</dc:creator>
  <cp:keywords/>
  <dc:description>generated using python-pptx</dc:description>
  <cp:lastModifiedBy>ASUS</cp:lastModifiedBy>
  <cp:revision>28</cp:revision>
  <dcterms:created xsi:type="dcterms:W3CDTF">2013-01-27T09:14:16Z</dcterms:created>
  <dcterms:modified xsi:type="dcterms:W3CDTF">2026-03-12T14:25:16Z</dcterms:modified>
  <cp:category/>
</cp:coreProperties>
</file>